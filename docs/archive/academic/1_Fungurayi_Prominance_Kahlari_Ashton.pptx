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E42"/>
          </a:solidFill>
          <a:ln>
            <a:solidFill>
              <a:srgbClr val="09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3B72C"/>
                </a:solidFill>
                <a:latin typeface="Aptos"/>
              </a:rPr>
              <a:t>StanPro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7589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AML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79552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D2E0F2"/>
                </a:solidFill>
                <a:latin typeface="Aptos"/>
              </a:rPr>
              <a:t>A proposed explainable, real-time system for detecting and managing suspicious financial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880360"/>
            <a:ext cx="5166360" cy="1325880"/>
          </a:xfrm>
          <a:prstGeom prst="roundRect">
            <a:avLst/>
          </a:prstGeom>
          <a:solidFill>
            <a:srgbClr val="123565"/>
          </a:solidFill>
          <a:ln>
            <a:solidFill>
              <a:srgbClr val="123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8211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Research Progress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D2E0F2"/>
                </a:solidFill>
                <a:latin typeface="Aptos"/>
              </a:rPr>
              <a:t>Panel 1  •  7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530352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Prominance Fungurayi  |  R251946T</a:t>
            </a:r>
            <a:br/>
            <a:r>
              <a:t>Ashton Kahlari  |  R252989W</a:t>
            </a:r>
          </a:p>
        </p:txBody>
      </p:sp>
      <p:sp>
        <p:nvSpPr>
          <p:cNvPr id="11" name="Oval 10"/>
          <p:cNvSpPr/>
          <p:nvPr/>
        </p:nvSpPr>
        <p:spPr>
          <a:xfrm>
            <a:off x="8366760" y="1143000"/>
            <a:ext cx="1143000" cy="1143000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563624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91E42"/>
                </a:solidFill>
                <a:latin typeface="Aptos"/>
              </a:rPr>
              <a:t>Monitor</a:t>
            </a:r>
          </a:p>
        </p:txBody>
      </p:sp>
      <p:sp>
        <p:nvSpPr>
          <p:cNvPr id="13" name="Oval 12"/>
          <p:cNvSpPr/>
          <p:nvPr/>
        </p:nvSpPr>
        <p:spPr>
          <a:xfrm>
            <a:off x="9738360" y="2240280"/>
            <a:ext cx="1143000" cy="1143000"/>
          </a:xfrm>
          <a:prstGeom prst="ellipse">
            <a:avLst/>
          </a:prstGeom>
          <a:solidFill>
            <a:srgbClr val="F3B72C"/>
          </a:solidFill>
          <a:ln>
            <a:solidFill>
              <a:srgbClr val="F3B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2660904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91E42"/>
                </a:solidFill>
                <a:latin typeface="Aptos"/>
              </a:rPr>
              <a:t>Detect</a:t>
            </a:r>
          </a:p>
        </p:txBody>
      </p:sp>
      <p:sp>
        <p:nvSpPr>
          <p:cNvPr id="15" name="Oval 14"/>
          <p:cNvSpPr/>
          <p:nvPr/>
        </p:nvSpPr>
        <p:spPr>
          <a:xfrm>
            <a:off x="8366760" y="3383280"/>
            <a:ext cx="1143000" cy="1143000"/>
          </a:xfrm>
          <a:prstGeom prst="ellipse">
            <a:avLst/>
          </a:prstGeom>
          <a:solidFill>
            <a:srgbClr val="CA3E47"/>
          </a:solidFill>
          <a:ln>
            <a:solidFill>
              <a:srgbClr val="CA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803904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91E42"/>
                </a:solidFill>
                <a:latin typeface="Aptos"/>
              </a:rPr>
              <a:t>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34924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2E0F2"/>
                </a:solidFill>
                <a:latin typeface="Aptos"/>
              </a:rPr>
              <a:t>Risk-based • Auditable • Human-led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91E42"/>
                </a:solidFill>
                <a:latin typeface="Aptos"/>
              </a:rPr>
              <a:t>Background and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C80"/>
                </a:solidFill>
                <a:latin typeface="Aptos"/>
              </a:rPr>
              <a:t>Why financial institutions need faster, explainable AML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9999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3DDE9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C80"/>
                </a:solidFill>
                <a:latin typeface="Aptos"/>
              </a:rPr>
              <a:t>StanPro Bank AML Intelligence Platform  |  Panel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91E42"/>
                </a:solidFill>
                <a:latin typeface="Aptos"/>
              </a:rPr>
              <a:t>Financial crime monitoring must keep pace with rapid, connected transactions.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4884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148840"/>
            <a:ext cx="82296" cy="2331720"/>
          </a:xfrm>
          <a:prstGeom prst="rect">
            <a:avLst/>
          </a:prstGeom>
          <a:solidFill>
            <a:srgbClr val="135DAB"/>
          </a:solidFill>
          <a:ln>
            <a:solidFill>
              <a:srgbClr val="13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91E42"/>
                </a:solidFill>
                <a:latin typeface="Aptos"/>
              </a:rPr>
              <a:t>Operational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3017520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A"/>
                </a:solidFill>
                <a:latin typeface="Aptos"/>
              </a:rPr>
              <a:t>Manual review and disconnected records can delay the identification, investigation and reporting of unusual activity.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14884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2148840"/>
            <a:ext cx="82296" cy="233172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35000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91E42"/>
                </a:solidFill>
                <a:latin typeface="Aptos"/>
              </a:rPr>
              <a:t>Regulatory expectation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70632"/>
            <a:ext cx="3017520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A"/>
                </a:solidFill>
                <a:latin typeface="Aptos"/>
              </a:rPr>
              <a:t>FATF standards require risk-based customer due diligence, payment transparency, suspicious-transaction reporting and an effective FIU function.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214884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2148840"/>
            <a:ext cx="82296" cy="2331720"/>
          </a:xfrm>
          <a:prstGeom prst="rect">
            <a:avLst/>
          </a:prstGeom>
          <a:solidFill>
            <a:srgbClr val="F3B72C"/>
          </a:solidFill>
          <a:ln>
            <a:solidFill>
              <a:srgbClr val="F3B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35000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91E42"/>
                </a:solidFill>
                <a:latin typeface="Aptos"/>
              </a:rPr>
              <a:t>Technology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70632"/>
            <a:ext cx="3017520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A"/>
                </a:solidFill>
                <a:latin typeface="Aptos"/>
              </a:rPr>
              <a:t>Rules, behavioural analytics and machine learning can prioritise cases while preserving evidence for human compliance decisions.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047488"/>
            <a:ext cx="10835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C80"/>
                </a:solidFill>
                <a:latin typeface="Aptos"/>
              </a:rPr>
              <a:t>Project setting: a prototype bank AML environment aligned to Zimbabwean FIU reporting workflows and international FATF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91E42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38328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9999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3DDE9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C80"/>
                </a:solidFill>
                <a:latin typeface="Aptos"/>
              </a:rPr>
              <a:t>StanPro Bank AML Intelligence Platform  |  Panel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10808208" cy="914400"/>
          </a:xfrm>
          <a:prstGeom prst="roundRect">
            <a:avLst/>
          </a:prstGeom>
          <a:solidFill>
            <a:srgbClr val="F3F7FC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572768"/>
            <a:ext cx="10195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91E42"/>
                </a:solidFill>
                <a:latin typeface="Aptos"/>
              </a:rPr>
              <a:t>How can a bank detect potentially suspicious transactions promptly, prioritise explainable alerts, and support compliance staff with auditable case and reporting workflows?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C283A"/>
                </a:solidFill>
                <a:latin typeface="Aptos"/>
              </a:defRPr>
            </a:pPr>
            <a:r>
              <a:t>Static thresholds alone may miss structuring, rapid movement of funds and unusual customer behaviour.</a:t>
            </a:r>
          </a:p>
          <a:p>
            <a:pPr>
              <a:spcAft>
                <a:spcPts val="1000"/>
              </a:spcAft>
              <a:defRPr sz="1900">
                <a:solidFill>
                  <a:srgbClr val="1C283A"/>
                </a:solidFill>
                <a:latin typeface="Aptos"/>
              </a:defRPr>
            </a:pPr>
            <a:r>
              <a:t>High alert volumes can overwhelm analysts when alerts lack clear evidence and prioritisation.</a:t>
            </a:r>
          </a:p>
          <a:p>
            <a:pPr>
              <a:spcAft>
                <a:spcPts val="1000"/>
              </a:spcAft>
              <a:defRPr sz="1900">
                <a:solidFill>
                  <a:srgbClr val="1C283A"/>
                </a:solidFill>
                <a:latin typeface="Aptos"/>
              </a:defRPr>
            </a:pPr>
            <a:r>
              <a:t>Fragmented transaction, screening and reporting processes reduce traceability and slow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44068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999"/>
                </a:solidFill>
                <a:latin typeface="Aptos"/>
              </a:rPr>
              <a:t>Research focus: support—not replace—compliance judgement with transparent technology.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91E42"/>
                </a:solidFill>
                <a:latin typeface="Aptos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C80"/>
                </a:solidFill>
                <a:latin typeface="Aptos"/>
              </a:rPr>
              <a:t>An integrated AML intelligence platform for transaction monitoring and case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9999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3DDE9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C80"/>
                </a:solidFill>
                <a:latin typeface="Aptos"/>
              </a:rPr>
              <a:t>StanPro Bank AML Intelligence Platform  |  Panel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1920240" cy="2011680"/>
          </a:xfrm>
          <a:prstGeom prst="roundRect">
            <a:avLst/>
          </a:prstGeom>
          <a:solidFill>
            <a:srgbClr val="F3F7FC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103120"/>
            <a:ext cx="530352" cy="530352"/>
          </a:xfrm>
          <a:prstGeom prst="ellipse">
            <a:avLst/>
          </a:prstGeom>
          <a:solidFill>
            <a:srgbClr val="135DAB"/>
          </a:solidFill>
          <a:ln>
            <a:solidFill>
              <a:srgbClr val="13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12848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91E42"/>
                </a:solidFill>
                <a:latin typeface="Aptos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17296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C283A"/>
                </a:solidFill>
                <a:latin typeface="Aptos"/>
              </a:rPr>
              <a:t>Transactions and customer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1" y="2706624"/>
            <a:ext cx="274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0999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39" y="1874519"/>
            <a:ext cx="1920240" cy="2011680"/>
          </a:xfrm>
          <a:prstGeom prst="roundRect">
            <a:avLst/>
          </a:prstGeom>
          <a:solidFill>
            <a:srgbClr val="F3F7FC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0439" y="2103120"/>
            <a:ext cx="530352" cy="53035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39" y="2212848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799" y="278892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91E42"/>
                </a:solidFill>
                <a:latin typeface="Aptos"/>
              </a:rPr>
              <a:t>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17296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C283A"/>
                </a:solidFill>
                <a:latin typeface="Aptos"/>
              </a:rPr>
              <a:t>Watchlist / PEP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706624"/>
            <a:ext cx="274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09999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1874519"/>
            <a:ext cx="1920240" cy="2011680"/>
          </a:xfrm>
          <a:prstGeom prst="roundRect">
            <a:avLst/>
          </a:prstGeom>
          <a:solidFill>
            <a:srgbClr val="F3F7FC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59" y="2103120"/>
            <a:ext cx="530352" cy="530352"/>
          </a:xfrm>
          <a:prstGeom prst="ellipse">
            <a:avLst/>
          </a:prstGeom>
          <a:solidFill>
            <a:srgbClr val="F3B72C"/>
          </a:solidFill>
          <a:ln>
            <a:solidFill>
              <a:srgbClr val="F3B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59" y="2212848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78892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91E42"/>
                </a:solidFill>
                <a:latin typeface="Aptos"/>
              </a:rPr>
              <a:t>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1" y="317296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C283A"/>
                </a:solidFill>
                <a:latin typeface="Aptos"/>
              </a:rPr>
              <a:t>Rules + behaviour +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1" y="2706624"/>
            <a:ext cx="274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09999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874519"/>
            <a:ext cx="1920240" cy="2011680"/>
          </a:xfrm>
          <a:prstGeom prst="roundRect">
            <a:avLst/>
          </a:prstGeom>
          <a:solidFill>
            <a:srgbClr val="F3F7FC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83879" y="2103120"/>
            <a:ext cx="530352" cy="530352"/>
          </a:xfrm>
          <a:prstGeom prst="ellipse">
            <a:avLst/>
          </a:prstGeom>
          <a:solidFill>
            <a:srgbClr val="CA3E47"/>
          </a:solidFill>
          <a:ln>
            <a:solidFill>
              <a:srgbClr val="CA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2212848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8892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91E42"/>
                </a:solidFill>
                <a:latin typeface="Aptos"/>
              </a:rPr>
              <a:t>Investigate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317296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C283A"/>
                </a:solidFill>
                <a:latin typeface="Aptos"/>
              </a:rPr>
              <a:t>Alerts, evidence and cases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1" y="2706624"/>
            <a:ext cx="274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09999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1874519"/>
            <a:ext cx="1920240" cy="2011680"/>
          </a:xfrm>
          <a:prstGeom prst="roundRect">
            <a:avLst/>
          </a:prstGeom>
          <a:solidFill>
            <a:srgbClr val="F3F7FC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15600" y="2103120"/>
            <a:ext cx="530352" cy="530352"/>
          </a:xfrm>
          <a:prstGeom prst="ellipse">
            <a:avLst/>
          </a:prstGeom>
          <a:solidFill>
            <a:srgbClr val="091E42"/>
          </a:solidFill>
          <a:ln>
            <a:solidFill>
              <a:srgbClr val="09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2212848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278892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91E42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317296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C283A"/>
                </a:solidFill>
                <a:latin typeface="Aptos"/>
              </a:rPr>
              <a:t>CTR / SAR 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84632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91E42"/>
                </a:solidFill>
                <a:latin typeface="Aptos"/>
              </a:rPr>
              <a:t>Design principle: every alert should retain its reason, rules triggered, risk score and reviewer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91E42"/>
                </a:solidFill>
                <a:latin typeface="Aptos"/>
              </a:rPr>
              <a:t>Aim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38328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9999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3DDE9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C80"/>
                </a:solidFill>
                <a:latin typeface="Aptos"/>
              </a:rPr>
              <a:t>StanPro Bank AML Intelligence Platform  |  Panel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34440"/>
            <a:ext cx="10881360" cy="685800"/>
          </a:xfrm>
          <a:prstGeom prst="roundRect">
            <a:avLst/>
          </a:prstGeom>
          <a:solidFill>
            <a:srgbClr val="E6F3F9"/>
          </a:solidFill>
          <a:ln>
            <a:solidFill>
              <a:srgbClr val="C3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10378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091E42"/>
                </a:solidFill>
                <a:latin typeface="Aptos"/>
              </a:rPr>
              <a:t>Aim: To design and evaluate a prototype AML intelligence platform that supports early, explainable detection and compliant handling of suspicious transactions.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04288"/>
            <a:ext cx="521208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64261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9999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5146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91E42"/>
                </a:solidFill>
                <a:latin typeface="Aptos"/>
              </a:rPr>
              <a:t>Identify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871216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283A"/>
                </a:solidFill>
                <a:latin typeface="Aptos"/>
              </a:rPr>
              <a:t>Review AML monitoring requirements, typologies and reporting expectations.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877056"/>
            <a:ext cx="521208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21538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9999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408736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91E42"/>
                </a:solidFill>
                <a:latin typeface="Aptos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4443984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283A"/>
                </a:solidFill>
                <a:latin typeface="Aptos"/>
              </a:rPr>
              <a:t>Define an auditable architecture combining rules, screening and behavioural risk signals.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2304288"/>
            <a:ext cx="521208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264261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999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25146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91E42"/>
                </a:solidFill>
                <a:latin typeface="Aptos"/>
              </a:rPr>
              <a:t>Develop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2871216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283A"/>
                </a:solidFill>
                <a:latin typeface="Aptos"/>
              </a:rPr>
              <a:t>Implement a prototype with dashboards, alert/case workflows, CTR and SAR support.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3877056"/>
            <a:ext cx="521208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421538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9999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1464" y="408736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91E42"/>
                </a:solidFill>
                <a:latin typeface="Aptos"/>
              </a:rP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4443984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283A"/>
                </a:solidFill>
                <a:latin typeface="Aptos"/>
              </a:rPr>
              <a:t>Test detection behaviour, evidence capture, usability and reporting workflow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91E42"/>
                </a:solidFill>
                <a:latin typeface="Aptos"/>
              </a:rPr>
              <a:t>Literature Review: Key Findings and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38328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9999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3DDE9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C80"/>
                </a:solidFill>
                <a:latin typeface="Aptos"/>
              </a:rPr>
              <a:t>StanPro Bank AML Intelligence Platform  |  Panel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6187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91E42"/>
                </a:solidFill>
                <a:latin typeface="Aptos"/>
              </a:rPr>
              <a:t>Literature and standards support risk-based, technology-enabled monitoring—but reveal practical implementation gaps.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74519"/>
            <a:ext cx="82296" cy="2468880"/>
          </a:xfrm>
          <a:prstGeom prst="rect">
            <a:avLst/>
          </a:prstGeom>
          <a:solidFill>
            <a:srgbClr val="135DAB"/>
          </a:solidFill>
          <a:ln>
            <a:solidFill>
              <a:srgbClr val="13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91E42"/>
                </a:solidFill>
                <a:latin typeface="Aptos"/>
              </a:rPr>
              <a:t>What is established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301752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A"/>
                </a:solidFill>
                <a:latin typeface="Aptos"/>
              </a:rPr>
              <a:t>FATF promotes risk-based AML/CFT controls, timely suspicious-transaction reporting, FIU analysis and payment transparency.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82296" cy="246888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0756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91E42"/>
                </a:solidFill>
                <a:latin typeface="Aptos"/>
              </a:rPr>
              <a:t>What technology adds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496312"/>
            <a:ext cx="301752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A"/>
                </a:solidFill>
                <a:latin typeface="Aptos"/>
              </a:rPr>
              <a:t>Analytics can improve speed, prioritisation and detection of complex patterns; it must also address governance, privacy and explainability.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74519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874519"/>
            <a:ext cx="82296" cy="2468880"/>
          </a:xfrm>
          <a:prstGeom prst="rect">
            <a:avLst/>
          </a:prstGeom>
          <a:solidFill>
            <a:srgbClr val="F3B72C"/>
          </a:solidFill>
          <a:ln>
            <a:solidFill>
              <a:srgbClr val="F3B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0756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91E42"/>
                </a:solidFill>
                <a:latin typeface="Aptos"/>
              </a:rPr>
              <a:t>Gap addressed by this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496312"/>
            <a:ext cx="301752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A"/>
                </a:solidFill>
                <a:latin typeface="Aptos"/>
              </a:rPr>
              <a:t>A locally adaptable prototype that combines rule evidence, customer behaviour, screening, analyst case management and reporting support in one auditable workflow.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5B6C80"/>
                </a:solidFill>
                <a:latin typeface="Aptos"/>
              </a:rPr>
              <a:t>Research gap is an inference from the cited standards and technology literature; it will be refined through the full literature review and stakeholder feedback.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58384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C80"/>
                </a:solidFill>
                <a:latin typeface="Aptos"/>
              </a:rPr>
              <a:t>Sources: FATF Recommendations (2026); FATF New Technologies report (2021); Deprez et al. (2024).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91E42"/>
                </a:solidFill>
                <a:latin typeface="Aptos"/>
              </a:rPr>
              <a:t>Proposed Research and Development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38328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9999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3DDE9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C80"/>
                </a:solidFill>
                <a:latin typeface="Aptos"/>
              </a:rPr>
              <a:t>StanPro Bank AML Intelligence Platform  |  Panel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423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423160" cy="118872"/>
          </a:xfrm>
          <a:prstGeom prst="rect">
            <a:avLst/>
          </a:prstGeom>
          <a:solidFill>
            <a:srgbClr val="135DAB"/>
          </a:solidFill>
          <a:ln>
            <a:solidFill>
              <a:srgbClr val="13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5DA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1874519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91E42"/>
                </a:solidFill>
                <a:latin typeface="Aptos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9019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A"/>
                </a:solidFill>
                <a:latin typeface="Aptos"/>
              </a:rPr>
              <a:t>Requirements, literature review and AML typology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5" y="28803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09999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1691640"/>
            <a:ext cx="2423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93008" y="1691640"/>
            <a:ext cx="2423160" cy="118872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2057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999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542032"/>
            <a:ext cx="1874519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91E42"/>
                </a:solidFill>
                <a:latin typeface="Aptos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154680"/>
            <a:ext cx="19019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A"/>
                </a:solidFill>
                <a:latin typeface="Aptos"/>
              </a:rPr>
              <a:t>Data model, security, roles and risk-scoring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28803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0999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691640"/>
            <a:ext cx="2423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691640"/>
            <a:ext cx="2423160" cy="118872"/>
          </a:xfrm>
          <a:prstGeom prst="rect">
            <a:avLst/>
          </a:prstGeom>
          <a:solidFill>
            <a:srgbClr val="F3B72C"/>
          </a:solidFill>
          <a:ln>
            <a:solidFill>
              <a:srgbClr val="F3B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2057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B72C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2542032"/>
            <a:ext cx="1874519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91E42"/>
                </a:solidFill>
                <a:latin typeface="Aptos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3154680"/>
            <a:ext cx="19019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A"/>
                </a:solidFill>
                <a:latin typeface="Aptos"/>
              </a:rPr>
              <a:t>Flask prototype, dashboards, rules, screening and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28803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09999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98863" y="1691640"/>
            <a:ext cx="2423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98863" y="1691640"/>
            <a:ext cx="2423160" cy="118872"/>
          </a:xfrm>
          <a:prstGeom prst="rect">
            <a:avLst/>
          </a:prstGeom>
          <a:solidFill>
            <a:srgbClr val="CA3E47"/>
          </a:solidFill>
          <a:ln>
            <a:solidFill>
              <a:srgbClr val="CA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27463" y="2057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A3E47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3" y="2542032"/>
            <a:ext cx="1874519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91E42"/>
                </a:solidFill>
                <a:latin typeface="Aptos"/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7463" y="3154680"/>
            <a:ext cx="19019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A"/>
                </a:solidFill>
                <a:latin typeface="Aptos"/>
              </a:rPr>
              <a:t>Scenario-based tests, metrics, user feedback and refinement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074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91E42"/>
                </a:solidFill>
                <a:latin typeface="Aptos"/>
              </a:rPr>
              <a:t>Evaluation measures: detection of prepared AML scenarios, completeness of evidence, reporting readiness, response time and analyst usability.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91E42"/>
                </a:solidFill>
                <a:latin typeface="Aptos"/>
              </a:rP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38328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9999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3DDE9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C80"/>
                </a:solidFill>
                <a:latin typeface="Aptos"/>
              </a:rPr>
              <a:t>StanPro Bank AML Intelligence Platform  |  Panel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3063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3063240" cy="146304"/>
          </a:xfrm>
          <a:prstGeom prst="rect">
            <a:avLst/>
          </a:prstGeom>
          <a:solidFill>
            <a:srgbClr val="135DAB"/>
          </a:solidFill>
          <a:ln>
            <a:solidFill>
              <a:srgbClr val="13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91E42"/>
                </a:solidFill>
                <a:latin typeface="Aptos"/>
              </a:rPr>
              <a:t>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697480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C283A"/>
                </a:solidFill>
                <a:latin typeface="Aptos"/>
              </a:rPr>
              <a:t>Users</a:t>
            </a:r>
            <a:br/>
            <a:r>
              <a:t>Transactions</a:t>
            </a:r>
            <a:br/>
            <a:r>
              <a:t>Watchlist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063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3063240" cy="146304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14884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91E42"/>
                </a:solidFill>
                <a:latin typeface="Aptos"/>
              </a:rPr>
              <a:t>Detection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697480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C283A"/>
                </a:solidFill>
                <a:latin typeface="Aptos"/>
              </a:rPr>
              <a:t>AML rules</a:t>
            </a:r>
            <a:br/>
            <a:r>
              <a:t>Behavioural profiling</a:t>
            </a:r>
            <a:br/>
            <a:r>
              <a:t>ML risk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7" y="1828800"/>
            <a:ext cx="3063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9327" y="1828800"/>
            <a:ext cx="3063240" cy="146304"/>
          </a:xfrm>
          <a:prstGeom prst="rect">
            <a:avLst/>
          </a:prstGeom>
          <a:solidFill>
            <a:srgbClr val="F3B72C"/>
          </a:solidFill>
          <a:ln>
            <a:solidFill>
              <a:srgbClr val="F3B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59" y="214884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91E42"/>
                </a:solidFill>
                <a:latin typeface="Aptos"/>
              </a:rPr>
              <a:t>Compliance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697480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C283A"/>
                </a:solidFill>
                <a:latin typeface="Aptos"/>
              </a:rPr>
              <a:t>Alerts &amp; cases</a:t>
            </a:r>
            <a:br/>
            <a:r>
              <a:t>CTR / SAR reports</a:t>
            </a:r>
            <a:br/>
            <a:r>
              <a:t>Audit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2880360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009999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7536" y="2880360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009999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4846320"/>
            <a:ext cx="8183879" cy="640080"/>
          </a:xfrm>
          <a:prstGeom prst="roundRect">
            <a:avLst/>
          </a:prstGeom>
          <a:solidFill>
            <a:srgbClr val="E6F3F9"/>
          </a:solidFill>
          <a:ln>
            <a:solidFill>
              <a:srgbClr val="C3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5056632"/>
            <a:ext cx="7699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91E42"/>
                </a:solidFill>
                <a:latin typeface="Aptos"/>
              </a:rPr>
              <a:t>Cross-cutting controls: role-based access • evidence retention • audit trails • real-time updates • human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91E42"/>
                </a:solidFill>
                <a:latin typeface="Aptos"/>
              </a:rPr>
              <a:t>Progress to Date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38328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9999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3DDE9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C80"/>
                </a:solidFill>
                <a:latin typeface="Aptos"/>
              </a:rPr>
              <a:t>StanPro Bank AML Intelligence Platform  |  Panel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5029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91E42"/>
                </a:solidFill>
                <a:latin typeface="Aptos"/>
              </a:rPr>
              <a:t>Current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C283A"/>
                </a:solidFill>
                <a:latin typeface="Aptos"/>
              </a:defRPr>
            </a:pPr>
            <a:r>
              <a:t>Defined the problem domain, solution concept and core AML workflows.</a:t>
            </a:r>
          </a:p>
          <a:p>
            <a:pPr>
              <a:spcAft>
                <a:spcPts val="1000"/>
              </a:spcAft>
              <a:defRPr sz="1550">
                <a:solidFill>
                  <a:srgbClr val="1C283A"/>
                </a:solidFill>
                <a:latin typeface="Aptos"/>
              </a:defRPr>
            </a:pPr>
            <a:r>
              <a:t>Designed a working prototype structure for users, transactions, risk scores, alerts, cases, SARs, CTRs and activity logging.</a:t>
            </a:r>
          </a:p>
          <a:p>
            <a:pPr>
              <a:spcAft>
                <a:spcPts val="1000"/>
              </a:spcAft>
              <a:defRPr sz="1550">
                <a:solidFill>
                  <a:srgbClr val="1C283A"/>
                </a:solidFill>
                <a:latin typeface="Aptos"/>
              </a:defRPr>
            </a:pPr>
            <a:r>
              <a:t>Implemented draft detection components: configurable rule assessment, screening hooks, behavioural profiling and ML risk prediction.</a:t>
            </a:r>
          </a:p>
          <a:p>
            <a:pPr>
              <a:spcAft>
                <a:spcPts val="1000"/>
              </a:spcAft>
              <a:defRPr sz="1550">
                <a:solidFill>
                  <a:srgbClr val="1C283A"/>
                </a:solidFill>
                <a:latin typeface="Aptos"/>
              </a:defRPr>
            </a:pPr>
            <a:r>
              <a:t>Prepared synthetic transaction scenarios for normal, suspicious and high-risk activity.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53312"/>
            <a:ext cx="5029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91E42"/>
                </a:solidFill>
                <a:latin typeface="Aptos"/>
              </a:rPr>
              <a:t>Next steps</a:t>
            </a:r>
          </a:p>
        </p:txBody>
      </p:sp>
      <p:sp>
        <p:nvSpPr>
          <p:cNvPr id="10" name="Oval 9"/>
          <p:cNvSpPr/>
          <p:nvPr/>
        </p:nvSpPr>
        <p:spPr>
          <a:xfrm>
            <a:off x="6455664" y="1874519"/>
            <a:ext cx="338328" cy="33832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338328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892807"/>
            <a:ext cx="4389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83A"/>
                </a:solidFill>
                <a:latin typeface="Aptos"/>
              </a:rPr>
              <a:t>Complete targeted literature review and requirements validation.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6455664" y="2633472"/>
            <a:ext cx="338328" cy="33832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706624"/>
            <a:ext cx="338328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651760"/>
            <a:ext cx="4389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83A"/>
                </a:solidFill>
                <a:latin typeface="Aptos"/>
              </a:rPr>
              <a:t>Test the prototype with predefined AML scenarios and document results.</a:t>
            </a:r>
          </a:p>
        </p:txBody>
      </p:sp>
      <p:sp>
        <p:nvSpPr>
          <p:cNvPr id="16" name="Oval 15"/>
          <p:cNvSpPr/>
          <p:nvPr/>
        </p:nvSpPr>
        <p:spPr>
          <a:xfrm>
            <a:off x="6455664" y="3392424"/>
            <a:ext cx="338328" cy="33832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465576"/>
            <a:ext cx="338328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3410712"/>
            <a:ext cx="4389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83A"/>
                </a:solidFill>
                <a:latin typeface="Aptos"/>
              </a:rPr>
              <a:t>Refine explainability, security controls and reporting outputs.</a:t>
            </a:r>
          </a:p>
        </p:txBody>
      </p:sp>
      <p:sp>
        <p:nvSpPr>
          <p:cNvPr id="19" name="Oval 18"/>
          <p:cNvSpPr/>
          <p:nvPr/>
        </p:nvSpPr>
        <p:spPr>
          <a:xfrm>
            <a:off x="6455664" y="4151375"/>
            <a:ext cx="338328" cy="33832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4224527"/>
            <a:ext cx="338328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4169663"/>
            <a:ext cx="4389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83A"/>
                </a:solidFill>
                <a:latin typeface="Aptos"/>
              </a:rPr>
              <a:t>Obtain supervisor feedback and maintain the signed progress log book.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91E42"/>
                </a:solidFill>
                <a:latin typeface="Aptos"/>
              </a:rPr>
              <a:t>References and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38328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9999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3DDE9"/>
          </a:solidFill>
          <a:ln>
            <a:solidFill>
              <a:srgbClr val="D3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C80"/>
                </a:solidFill>
                <a:latin typeface="Aptos"/>
              </a:rPr>
              <a:t>StanPro Bank AML Intelligence Platform  |  Panel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9844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91E42"/>
                </a:solidFill>
                <a:latin typeface="Aptos"/>
              </a:rPr>
              <a:t>Selected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984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C283A"/>
                </a:solidFill>
                <a:latin typeface="Aptos"/>
              </a:defRPr>
            </a:pPr>
            <a:r>
              <a:t>Financial Action Task Force (FATF). (2026). The FATF Recommendations. https://www.fatf-gafi.org/en/publications/fatfrecommendations/fatf-recommendations.html</a:t>
            </a:r>
          </a:p>
          <a:p>
            <a:pPr>
              <a:spcAft>
                <a:spcPts val="1000"/>
              </a:spcAft>
              <a:defRPr sz="1300">
                <a:solidFill>
                  <a:srgbClr val="1C283A"/>
                </a:solidFill>
                <a:latin typeface="Aptos"/>
              </a:defRPr>
            </a:pPr>
            <a:r>
              <a:t>FATF. (2021). Opportunities and Challenges of New Technologies for AML/CFT. https://www.fatf-gafi.org/en/publications/digitaltransformation/digital-transformation.html</a:t>
            </a:r>
          </a:p>
          <a:p>
            <a:pPr>
              <a:spcAft>
                <a:spcPts val="1000"/>
              </a:spcAft>
              <a:defRPr sz="1300">
                <a:solidFill>
                  <a:srgbClr val="1C283A"/>
                </a:solidFill>
                <a:latin typeface="Aptos"/>
              </a:defRPr>
            </a:pPr>
            <a:r>
              <a:t>Reserve Bank of Zimbabwe. (2018). Money Laundering and Proceeds of Crime Amendment Act, No. 12 of 2018. https://www.rbz.co.zw/</a:t>
            </a:r>
          </a:p>
          <a:p>
            <a:pPr>
              <a:spcAft>
                <a:spcPts val="1000"/>
              </a:spcAft>
              <a:defRPr sz="1300">
                <a:solidFill>
                  <a:srgbClr val="1C283A"/>
                </a:solidFill>
                <a:latin typeface="Aptos"/>
              </a:defRPr>
            </a:pPr>
            <a:r>
              <a:t>Deprez, B., et al. (2024). Network Analytics for Anti-Money Laundering: A Systematic Literature Review and Experimental Evaluation. arXiv:2405.19383.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074920"/>
            <a:ext cx="10744200" cy="621792"/>
          </a:xfrm>
          <a:prstGeom prst="roundRect">
            <a:avLst/>
          </a:prstGeom>
          <a:solidFill>
            <a:srgbClr val="091E42"/>
          </a:solidFill>
          <a:ln>
            <a:solidFill>
              <a:srgbClr val="09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266944"/>
            <a:ext cx="10287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Thank you — we welcome your feedback and questions.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B6C80"/>
                </a:solidFill>
                <a:latin typeface="Aptos"/>
              </a:rPr>
              <a:t>Prominance Fungurayi (R251946T)  •  Ashton Kahlari (R252989W)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